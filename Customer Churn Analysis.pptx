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8BD1183-22FD-425A-9E83-8D0DC1A8D7F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0D173-5182-49FF-9926-4CC00D861580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415" y="540202"/>
            <a:ext cx="10243457" cy="1567544"/>
          </a:xfrm>
        </p:spPr>
        <p:txBody>
          <a:bodyPr>
            <a:noAutofit/>
          </a:bodyPr>
          <a:lstStyle/>
          <a:p>
            <a:pPr algn="l"/>
            <a:r>
              <a:rPr lang="en-US" sz="4800" b="1" dirty="0">
                <a:latin typeface="Bell MT" panose="02020503060305020303" pitchFamily="18" charset="0"/>
              </a:rPr>
              <a:t>Customer Churn Analysis </a:t>
            </a:r>
            <a:br>
              <a:rPr lang="en-US" sz="4800" b="1" dirty="0">
                <a:latin typeface="Bell MT" panose="02020503060305020303" pitchFamily="18" charset="0"/>
              </a:rPr>
            </a:br>
            <a:r>
              <a:rPr lang="en-US" sz="4800" b="1" dirty="0">
                <a:latin typeface="Bell MT" panose="02020503060305020303" pitchFamily="18" charset="0"/>
              </a:rPr>
              <a:t>										– Telecom Industry</a:t>
            </a:r>
            <a:endParaRPr lang="en-IN" sz="4800" dirty="0"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1161" y="2957981"/>
            <a:ext cx="9949543" cy="364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Predicting Customer Churn And Enabling Data-Driven Retention Strategies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Tools: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SQL – DB Browser SQLite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Python(Scikit Learn, SHAP) –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Notebook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Outcome: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Explainable Churn prediction &amp; customer risk segmentation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62420" y="238569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IN" altLang="en-US" sz="2000" b="1"/>
              <a:t>- Swathi Sri Gedela</a:t>
            </a:r>
            <a:endParaRPr lang="en-IN" altLang="en-US" sz="2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1371" y="1540783"/>
            <a:ext cx="9938657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Telecom companies face high customer churn due to pricing, contract flexibility, and service-related factors, leading to revenue loss.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Predict customer churn using historical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key drivers behind churn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Segment customers by risk level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 actionable retention strategies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1629" y="502145"/>
            <a:ext cx="95467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dirty="0">
                <a:latin typeface="Bell MT" panose="02020503060305020303" pitchFamily="18" charset="0"/>
              </a:rPr>
              <a:t>Business Problem &amp; Objective:</a:t>
            </a:r>
            <a:endParaRPr lang="en-US" sz="48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8698" y="1578052"/>
            <a:ext cx="9046029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 Description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Telecom customer dataset with demographic, usage, billing, and contract information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Target variable: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Churn (Yes / No)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Key Attributes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Tenure, Monthly Charges, Total Charges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Contract Type, Payment Method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Service usage indicators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7888" y="611709"/>
            <a:ext cx="65205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ell MT" panose="02020503060305020303" pitchFamily="18" charset="0"/>
              </a:rPr>
              <a:t>Dataset Overview:</a:t>
            </a:r>
            <a:endParaRPr lang="en-IN" sz="48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6571" y="399725"/>
            <a:ext cx="100475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Bell MT" panose="02020503060305020303" pitchFamily="18" charset="0"/>
              </a:rPr>
              <a:t>SQL – Data Aggregation &amp; Feature Engineering</a:t>
            </a:r>
            <a:endParaRPr lang="en-IN" sz="4400" dirty="0"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3657" y="1806360"/>
            <a:ext cx="9514114" cy="465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Why SQL?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Real-world telecom data resides in databases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SQL used to transform raw data into analysis-ready features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Aggregated customer-level data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Created business flags: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Short tenure indicator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 charge flag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Month-to-month contract flag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Manual payment flag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👉 Result: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ML-ready feature table (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churn_sql_features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681" y="770984"/>
            <a:ext cx="98149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ell MT" panose="02020503060305020303" pitchFamily="18" charset="0"/>
              </a:rPr>
              <a:t>Exploratory Data Analysis (EDA)</a:t>
            </a:r>
            <a:endParaRPr lang="en-IN" sz="4800" dirty="0"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638" y="1734203"/>
            <a:ext cx="9520990" cy="404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Churn is higher among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short-tenure customers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Month-to-month contracts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show significantly higher churn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Customers with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high monthly charges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are more price-sensitive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Manual payment users churn more than auto-pay users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📌 These insights guided feature selection and modeling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3964" y="526404"/>
            <a:ext cx="8281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ell MT" panose="02020503060305020303" pitchFamily="18" charset="0"/>
              </a:rPr>
              <a:t>Machine Learning Approach</a:t>
            </a:r>
            <a:endParaRPr lang="en-IN" sz="4800" dirty="0"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979" y="1569798"/>
            <a:ext cx="9184678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Strategy: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Binary classification problem (Churn vs No Churn)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Models used: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Logistic Regression (baseline &amp; interpretability)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Random Forest (final model for performance)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Why Random Forest?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Captures non-linear churn patterns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Handles feature interactions effectively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6840" y="33309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ell MT" panose="02020503060305020303" pitchFamily="18" charset="0"/>
              </a:rPr>
              <a:t>Model Evaluation</a:t>
            </a:r>
            <a:endParaRPr lang="en-IN" sz="4800" dirty="0">
              <a:latin typeface="Bell MT" panose="02020503060305020303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85093" y="1711250"/>
          <a:ext cx="8947149" cy="2194560"/>
        </p:xfrm>
        <a:graphic>
          <a:graphicData uri="http://schemas.openxmlformats.org/drawingml/2006/table">
            <a:tbl>
              <a:tblPr/>
              <a:tblGrid>
                <a:gridCol w="2982383"/>
                <a:gridCol w="2982383"/>
                <a:gridCol w="2982383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73%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75%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 (Churn = 1)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80%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75%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 (Churn = 1)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49%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52%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 (Churn = 1)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ROC-AUC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0.829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0.828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584840" y="1164906"/>
            <a:ext cx="46636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Evaluation Metrics (Test Set Results)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405" y="4775047"/>
            <a:ext cx="5398595" cy="170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Logistic Regression: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Higher recall → captures more churn customers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More false positives (lower precision)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02084" y="4775047"/>
            <a:ext cx="6096001" cy="170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Random Forest: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balance between precision and recall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Fewer false alarms while still detecting churners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6840" y="421602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Confusion Matrix – Key Observations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1886" y="308436"/>
            <a:ext cx="9239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Bell MT" panose="02020503060305020303" pitchFamily="18" charset="0"/>
              </a:rPr>
              <a:t>Explainable AI – SHAP</a:t>
            </a:r>
            <a:endParaRPr lang="en-IN" sz="4800" dirty="0"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70814" y="3665737"/>
            <a:ext cx="5954487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Value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understand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customers churn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targeted retention actions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5171" y="1261088"/>
            <a:ext cx="4288972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What SHAP Did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most important features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influencing churn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Showed whether each feature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increases or decreases churn risk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98670" y="1292090"/>
            <a:ext cx="6226627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Why SHAP?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Forest predicts churn but does not explain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SHAP is used to make model predictions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interpretable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5171" y="3634735"/>
            <a:ext cx="609600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 from SHAP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Month-to-month contracts → higher churn risk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monthly charges → higher churn risk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 tenure → higher churn risk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Auto-pay &amp; long tenure → lower churn risk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0343" y="6104743"/>
            <a:ext cx="972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SHAP turned model predictions into clear, actionable insights.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4700" y="322398"/>
            <a:ext cx="10611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Bell MT" panose="02020503060305020303" pitchFamily="18" charset="0"/>
              </a:rPr>
              <a:t>KPI Visualization – Model Validation</a:t>
            </a:r>
            <a:endParaRPr lang="en-IN" sz="4000" dirty="0"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700" y="1030349"/>
            <a:ext cx="10491536" cy="234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KPI: Churn Rate by Risk Segment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High-risk customers show the highest churn rate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Medium-risk customers show moderate churn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Low-risk customers show minimal churn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📌 Confirms that customer risk segmentation is meaningful and reliable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4700" y="348406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Bell MT" panose="02020503060305020303" pitchFamily="18" charset="0"/>
              </a:rPr>
              <a:t>Customer Segmentation:</a:t>
            </a:r>
            <a:endParaRPr lang="en-IN" sz="4000" dirty="0">
              <a:latin typeface="Bell MT" panose="020205030603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571" y="4191947"/>
            <a:ext cx="9851571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Risk-Based Segments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High Risk: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Immediate churn likelihood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Medium Risk: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Engagement required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Low Risk: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Loyal customers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customer is assigned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churn probability score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prioritize actions.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8715" y="3872155"/>
            <a:ext cx="6096000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Expected Impact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Early identification of high-risk customers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Targeted retention campaigns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Potential churn reduction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15–25%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Improved customer lifetime value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55229" y="4477434"/>
            <a:ext cx="53448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u="sng" dirty="0">
                <a:latin typeface="Bell MT" panose="02020503060305020303" pitchFamily="18" charset="0"/>
              </a:rPr>
              <a:t>Business Impact</a:t>
            </a:r>
            <a:endParaRPr lang="en-US" sz="4800" u="sng" dirty="0">
              <a:latin typeface="Bell MT" panose="020205030603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04114" y="479475"/>
            <a:ext cx="609600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Data-Driven Retention Strategies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High-risk, short-tenure customers → onboarding offers &amp; support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Month-to-month users → promote long-term contracts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High charge customers → targeted discounts or plan optimization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Manual payment users → incentivize auto-pay adoption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8715" y="1296088"/>
            <a:ext cx="47570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u="sng" dirty="0">
                <a:latin typeface="Bell MT" panose="02020503060305020303" pitchFamily="18" charset="0"/>
              </a:rPr>
              <a:t>Business</a:t>
            </a:r>
            <a:r>
              <a:rPr lang="en-US" sz="4800" dirty="0">
                <a:latin typeface="Bell MT" panose="02020503060305020303" pitchFamily="18" charset="0"/>
              </a:rPr>
              <a:t> </a:t>
            </a:r>
            <a:r>
              <a:rPr lang="en-US" sz="4800" u="sng" dirty="0">
                <a:latin typeface="Bell MT" panose="02020503060305020303" pitchFamily="18" charset="0"/>
              </a:rPr>
              <a:t>Recommendations</a:t>
            </a:r>
            <a:endParaRPr lang="en-US" sz="4800" u="sng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4193" y="1921114"/>
            <a:ext cx="7663542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Built an end-to-end telecom churn prediction system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Combined SQL, machine learning, and explainable AI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Delivered actionable insights for business decision-making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9738" y="836388"/>
            <a:ext cx="60960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dirty="0">
                <a:latin typeface="Bell MT" panose="02020503060305020303" pitchFamily="18" charset="0"/>
              </a:rPr>
              <a:t>Conclusion</a:t>
            </a:r>
            <a:r>
              <a:rPr lang="en-IN" altLang="en-US" sz="4800" dirty="0">
                <a:latin typeface="Bell MT" panose="02020503060305020303" pitchFamily="18" charset="0"/>
              </a:rPr>
              <a:t>:</a:t>
            </a:r>
            <a:endParaRPr lang="en-IN" altLang="en-US" sz="4800" dirty="0">
              <a:latin typeface="Bell MT" panose="020205030603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7105" y="4068445"/>
            <a:ext cx="1031113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Final Takeaway</a:t>
            </a: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This solution transforms churn prediction into a practical decision-support system for telecom retention teams.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4085</Words>
  <Application>WPS Presentation</Application>
  <PresentationFormat>Widescreen</PresentationFormat>
  <Paragraphs>179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Wingdings 3</vt:lpstr>
      <vt:lpstr>Arial</vt:lpstr>
      <vt:lpstr>Bell MT</vt:lpstr>
      <vt:lpstr>Microsoft YaHei</vt:lpstr>
      <vt:lpstr>Arial Unicode MS</vt:lpstr>
      <vt:lpstr>Century Gothic</vt:lpstr>
      <vt:lpstr>Calibri</vt:lpstr>
      <vt:lpstr>Ion</vt:lpstr>
      <vt:lpstr>Customer Churn Analysis  										– Telecom Industry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SWATHI G</dc:creator>
  <cp:lastModifiedBy>SWATHI SRI G</cp:lastModifiedBy>
  <cp:revision>4</cp:revision>
  <dcterms:created xsi:type="dcterms:W3CDTF">2026-01-03T16:02:00Z</dcterms:created>
  <dcterms:modified xsi:type="dcterms:W3CDTF">2026-01-03T17:18:34Z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D24E220CCAD14236A1E1FD39187DA18F_12</vt:lpwstr>
  </property>
  <property fmtid="{D5CDD505-2E9C-101B-9397-08002B2CF9AE}" pid="3" name="KSOProductBuildVer">
    <vt:lpwstr>1033-12.2.0.23196</vt:lpwstr>
  </property>
</Properties>
</file>